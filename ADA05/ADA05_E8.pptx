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eue Machina Ultra-Bold" charset="1" panose="00000900000000000000"/>
      <p:regular r:id="rId13"/>
    </p:embeddedFont>
    <p:embeddedFont>
      <p:font typeface="Disket Mono" charset="1" panose="020B0509050000020004"/>
      <p:regular r:id="rId14"/>
    </p:embeddedFont>
    <p:embeddedFont>
      <p:font typeface="Disket Mono Bold" charset="1" panose="020B050905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41581">
            <a:off x="10598778" y="487937"/>
            <a:ext cx="5320068" cy="5320068"/>
          </a:xfrm>
          <a:custGeom>
            <a:avLst/>
            <a:gdLst/>
            <a:ahLst/>
            <a:cxnLst/>
            <a:rect r="r" b="b" t="t" l="l"/>
            <a:pathLst>
              <a:path h="5320068" w="5320068">
                <a:moveTo>
                  <a:pt x="0" y="0"/>
                </a:moveTo>
                <a:lnTo>
                  <a:pt x="5320068" y="0"/>
                </a:lnTo>
                <a:lnTo>
                  <a:pt x="5320068" y="5320068"/>
                </a:lnTo>
                <a:lnTo>
                  <a:pt x="0" y="5320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39574">
            <a:off x="-1179757" y="5203164"/>
            <a:ext cx="7345536" cy="7345536"/>
          </a:xfrm>
          <a:custGeom>
            <a:avLst/>
            <a:gdLst/>
            <a:ahLst/>
            <a:cxnLst/>
            <a:rect r="r" b="b" t="t" l="l"/>
            <a:pathLst>
              <a:path h="7345536" w="7345536">
                <a:moveTo>
                  <a:pt x="0" y="0"/>
                </a:moveTo>
                <a:lnTo>
                  <a:pt x="7345536" y="0"/>
                </a:lnTo>
                <a:lnTo>
                  <a:pt x="7345536" y="7345536"/>
                </a:lnTo>
                <a:lnTo>
                  <a:pt x="0" y="7345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26508">
            <a:off x="9689251" y="5393910"/>
            <a:ext cx="7632058" cy="7632058"/>
          </a:xfrm>
          <a:custGeom>
            <a:avLst/>
            <a:gdLst/>
            <a:ahLst/>
            <a:cxnLst/>
            <a:rect r="r" b="b" t="t" l="l"/>
            <a:pathLst>
              <a:path h="7632058" w="7632058">
                <a:moveTo>
                  <a:pt x="0" y="0"/>
                </a:moveTo>
                <a:lnTo>
                  <a:pt x="7632058" y="0"/>
                </a:lnTo>
                <a:lnTo>
                  <a:pt x="7632058" y="7632059"/>
                </a:lnTo>
                <a:lnTo>
                  <a:pt x="0" y="7632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595085"/>
            <a:ext cx="11790432" cy="3081783"/>
            <a:chOff x="0" y="0"/>
            <a:chExt cx="15720576" cy="410904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23900"/>
              <a:ext cx="15720576" cy="2417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51"/>
                </a:lnSpc>
              </a:pPr>
              <a:r>
                <a:rPr lang="en-US" b="true" sz="15502" spc="-465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INSERTION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753741"/>
              <a:ext cx="15512597" cy="1355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86"/>
                </a:lnSpc>
              </a:pPr>
              <a:r>
                <a:rPr lang="en-US" sz="7565" spc="-151">
                  <a:solidFill>
                    <a:srgbClr val="D9D9D9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SORT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5753" y="744660"/>
            <a:ext cx="4089862" cy="566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5377" spc="-161" b="true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INSERTION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5753" y="1223313"/>
            <a:ext cx="4035754" cy="33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2624" spc="-52">
                <a:solidFill>
                  <a:srgbClr val="D9D9D9"/>
                </a:solidFill>
                <a:latin typeface="Disket Mono"/>
                <a:ea typeface="Disket Mono"/>
                <a:cs typeface="Disket Mono"/>
                <a:sym typeface="Disket Mono"/>
              </a:rPr>
              <a:t>SORT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570212" y="497010"/>
            <a:ext cx="9039685" cy="8557190"/>
            <a:chOff x="0" y="0"/>
            <a:chExt cx="12052914" cy="114095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553678" y="6464028"/>
              <a:ext cx="4945558" cy="4945558"/>
            </a:xfrm>
            <a:custGeom>
              <a:avLst/>
              <a:gdLst/>
              <a:ahLst/>
              <a:cxnLst/>
              <a:rect r="r" b="b" t="t" l="l"/>
              <a:pathLst>
                <a:path h="4945558" w="4945558">
                  <a:moveTo>
                    <a:pt x="0" y="0"/>
                  </a:moveTo>
                  <a:lnTo>
                    <a:pt x="4945558" y="0"/>
                  </a:lnTo>
                  <a:lnTo>
                    <a:pt x="4945558" y="4945559"/>
                  </a:lnTo>
                  <a:lnTo>
                    <a:pt x="0" y="4945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381000"/>
              <a:ext cx="12052914" cy="1256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65"/>
                </a:lnSpc>
              </a:pPr>
              <a:r>
                <a:rPr lang="en-US" sz="8092" spc="-242" b="true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INTRODUCCION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422058"/>
              <a:ext cx="11893457" cy="725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751"/>
                </a:lnSpc>
              </a:pPr>
              <a:r>
                <a:rPr lang="en-US" b="true" sz="3949" spc="-78">
                  <a:solidFill>
                    <a:srgbClr val="545454"/>
                  </a:solidFill>
                  <a:latin typeface="Disket Mono Bold"/>
                  <a:ea typeface="Disket Mono Bold"/>
                  <a:cs typeface="Disket Mono Bold"/>
                  <a:sym typeface="Disket Mono Bold"/>
                </a:rPr>
                <a:t>Y CONTEXTO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386815"/>
              <a:ext cx="11951254" cy="4538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527"/>
                </a:lnSpc>
                <a:spcBef>
                  <a:spcPct val="0"/>
                </a:spcBef>
              </a:pPr>
              <a:r>
                <a:rPr lang="en-US" b="true" sz="3233" spc="-97">
                  <a:solidFill>
                    <a:srgbClr val="000000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El algoritmo Insertion Sort (ordenamiento por inserción) es un método de ordenamiento simple que construye la lista ordenada de manera gradual, insertando uno a uno los elementos en su posición correcta. 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1653" y="1867738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30843" y="6258161"/>
            <a:ext cx="3536761" cy="3536761"/>
          </a:xfrm>
          <a:custGeom>
            <a:avLst/>
            <a:gdLst/>
            <a:ahLst/>
            <a:cxnLst/>
            <a:rect r="r" b="b" t="t" l="l"/>
            <a:pathLst>
              <a:path h="3536761" w="3536761">
                <a:moveTo>
                  <a:pt x="0" y="0"/>
                </a:moveTo>
                <a:lnTo>
                  <a:pt x="3536761" y="0"/>
                </a:lnTo>
                <a:lnTo>
                  <a:pt x="3536761" y="3536761"/>
                </a:lnTo>
                <a:lnTo>
                  <a:pt x="0" y="3536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7253" y="260447"/>
            <a:ext cx="8857570" cy="1414934"/>
            <a:chOff x="0" y="0"/>
            <a:chExt cx="11810093" cy="188657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23850"/>
              <a:ext cx="11810093" cy="1121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08"/>
                </a:lnSpc>
              </a:pPr>
              <a:r>
                <a:rPr lang="en-US" sz="7155" spc="-214" b="true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FUNCIONAMIENTO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53842"/>
              <a:ext cx="11653849" cy="632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7"/>
                </a:lnSpc>
              </a:pPr>
              <a:r>
                <a:rPr lang="en-US" sz="3491" spc="-69">
                  <a:solidFill>
                    <a:srgbClr val="D9D9D9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DEL ALGORITMO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4447" y="2193468"/>
            <a:ext cx="8289553" cy="446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7"/>
              </a:lnSpc>
              <a:spcBef>
                <a:spcPct val="0"/>
              </a:spcBef>
            </a:pPr>
            <a:r>
              <a:rPr lang="en-US" b="true" sz="2562" spc="-51">
                <a:solidFill>
                  <a:srgbClr val="D9D9D9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EL PROCEDIMIENTO DE INSERTION SORT IMPLICA RECORRER UNA ESTRUCTURA DE DATOS (GENERALMENTE UN ARREGLO) DESDE EL SEGUNDO ELEMENTO, COMPARÁNDOLO CON LOS ANTERIORES E INSERTÁNDOLO EN SU POSICIÓN ADECUADA. ESTE PROCESO SE REPITE PARA CADA ELEMENTO, HASTA QUE EL ARREGLO SE ENCUENTRA COMPLETAMENTE ORDENADO.</a:t>
            </a:r>
          </a:p>
          <a:p>
            <a:pPr algn="just">
              <a:lnSpc>
                <a:spcPts val="3587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868755" y="426411"/>
            <a:ext cx="8172214" cy="2079481"/>
            <a:chOff x="0" y="0"/>
            <a:chExt cx="10896285" cy="277264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2646437" y="323850"/>
              <a:ext cx="5603411" cy="1120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08"/>
                </a:lnSpc>
              </a:pPr>
              <a:r>
                <a:rPr lang="en-US" b="true" sz="7155" spc="-214">
                  <a:solidFill>
                    <a:srgbClr val="000000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EJEMPLO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731969"/>
              <a:ext cx="10896285" cy="1040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2"/>
                </a:lnSpc>
              </a:pPr>
              <a:r>
                <a:rPr lang="en-US" sz="3055" spc="-61">
                  <a:solidFill>
                    <a:srgbClr val="000000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DADO EL ARREGLO [5, 3, 4, 1, 2]</a:t>
              </a:r>
            </a:p>
            <a:p>
              <a:pPr algn="l">
                <a:lnSpc>
                  <a:spcPts val="290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935586" y="3014676"/>
            <a:ext cx="6038552" cy="52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sz="3055" spc="-61">
                <a:solidFill>
                  <a:srgbClr val="000000"/>
                </a:solidFill>
                <a:latin typeface="Disket Mono"/>
                <a:ea typeface="Disket Mono"/>
                <a:cs typeface="Disket Mono"/>
                <a:sym typeface="Disket Mono"/>
              </a:rPr>
              <a:t>PASO 1: [</a:t>
            </a: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3</a:t>
            </a:r>
            <a:r>
              <a:rPr lang="en-US" sz="3055" spc="-61">
                <a:solidFill>
                  <a:srgbClr val="000000"/>
                </a:solidFill>
                <a:latin typeface="Disket Mono"/>
                <a:ea typeface="Disket Mono"/>
                <a:cs typeface="Disket Mono"/>
                <a:sym typeface="Disket Mono"/>
              </a:rPr>
              <a:t>, 5, 4, 1, 2]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35586" y="4399301"/>
            <a:ext cx="6038552" cy="52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sz="3055" spc="-61">
                <a:solidFill>
                  <a:srgbClr val="000000"/>
                </a:solidFill>
                <a:latin typeface="Disket Mono"/>
                <a:ea typeface="Disket Mono"/>
                <a:cs typeface="Disket Mono"/>
                <a:sym typeface="Disket Mono"/>
              </a:rPr>
              <a:t>PASO 2: [3, </a:t>
            </a: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4</a:t>
            </a:r>
            <a:r>
              <a:rPr lang="en-US" sz="3055" spc="-61">
                <a:solidFill>
                  <a:srgbClr val="000000"/>
                </a:solidFill>
                <a:latin typeface="Disket Mono"/>
                <a:ea typeface="Disket Mono"/>
                <a:cs typeface="Disket Mono"/>
                <a:sym typeface="Disket Mono"/>
              </a:rPr>
              <a:t>, 5, 1, 2]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35586" y="5735697"/>
            <a:ext cx="6038552" cy="52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sz="3055" spc="-61">
                <a:solidFill>
                  <a:srgbClr val="000000"/>
                </a:solidFill>
                <a:latin typeface="Disket Mono"/>
                <a:ea typeface="Disket Mono"/>
                <a:cs typeface="Disket Mono"/>
                <a:sym typeface="Disket Mono"/>
              </a:rPr>
              <a:t>PASO 3: [</a:t>
            </a: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1</a:t>
            </a:r>
            <a:r>
              <a:rPr lang="en-US" sz="3055" spc="-61">
                <a:solidFill>
                  <a:srgbClr val="000000"/>
                </a:solidFill>
                <a:latin typeface="Disket Mono"/>
                <a:ea typeface="Disket Mono"/>
                <a:cs typeface="Disket Mono"/>
                <a:sym typeface="Disket Mono"/>
              </a:rPr>
              <a:t>, 3, 4, 5, 2]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35586" y="7124936"/>
            <a:ext cx="6038156" cy="52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sz="3055" spc="-61">
                <a:solidFill>
                  <a:srgbClr val="000000"/>
                </a:solidFill>
                <a:latin typeface="Disket Mono"/>
                <a:ea typeface="Disket Mono"/>
                <a:cs typeface="Disket Mono"/>
                <a:sym typeface="Disket Mono"/>
              </a:rPr>
              <a:t>PASO 4: [1, </a:t>
            </a: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2</a:t>
            </a:r>
            <a:r>
              <a:rPr lang="en-US" sz="3055" spc="-61">
                <a:solidFill>
                  <a:srgbClr val="000000"/>
                </a:solidFill>
                <a:latin typeface="Disket Mono"/>
                <a:ea typeface="Disket Mono"/>
                <a:cs typeface="Disket Mono"/>
                <a:sym typeface="Disket Mono"/>
              </a:rPr>
              <a:t>, 3, 4, 5]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60141" y="1419446"/>
          <a:ext cx="17684573" cy="8165587"/>
        </p:xfrm>
        <a:graphic>
          <a:graphicData uri="http://schemas.openxmlformats.org/drawingml/2006/table">
            <a:tbl>
              <a:tblPr/>
              <a:tblGrid>
                <a:gridCol w="3132599"/>
                <a:gridCol w="3132599"/>
                <a:gridCol w="3132599"/>
                <a:gridCol w="3132599"/>
                <a:gridCol w="5154177"/>
              </a:tblGrid>
              <a:tr h="16275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ALGORITMO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mejor caso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CASO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PROMEDIO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PEOR CASO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COMENTARIOS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4545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Insertion 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b="true" sz="1999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SORT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(O(n))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O(n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2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O(n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2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Muy eficiente en listas casi ordenadas; adaptativo.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72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  Bubble Sort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O(n</a:t>
                      </a:r>
                      <a:r>
                        <a:rPr lang="en-US" sz="30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2</a:t>
                      </a:r>
                      <a:r>
                        <a:rPr lang="en-US" sz="30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O(n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2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O(n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2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Solo logra (O(n)) si se optimiza con bandera; muy lento en la práctica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69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  Selection Sort</a:t>
                      </a:r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O(n</a:t>
                      </a:r>
                      <a:r>
                        <a:rPr lang="en-US" sz="30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2</a:t>
                      </a:r>
                      <a:r>
                        <a:rPr lang="en-US" sz="30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O(n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2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O(n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2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No mejora con listas parcialmente ordenadas; no adaptativo.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92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  Shell Sort</a:t>
                      </a:r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O(n log n)* o O(n</a:t>
                      </a:r>
                      <a:r>
                        <a:rPr lang="en-US" sz="24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3/2</a:t>
                      </a:r>
                      <a:r>
                        <a:rPr lang="en-US" sz="24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  O(n^3/2)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isket Mono"/>
                          <a:ea typeface="Disket Mono"/>
                          <a:cs typeface="Disket Mono"/>
                          <a:sym typeface="Disket Mono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O(n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2</a:t>
                      </a:r>
                      <a:r>
                        <a:rPr lang="en-US" sz="30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Versión optimizada del Insertion Sort; depende de la secuencia de incrementos.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4200727" y="0"/>
            <a:ext cx="13843987" cy="1419446"/>
            <a:chOff x="0" y="0"/>
            <a:chExt cx="18458649" cy="189259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23850"/>
              <a:ext cx="18458649" cy="1120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08"/>
                </a:lnSpc>
              </a:pPr>
              <a:r>
                <a:rPr lang="en-US" b="true" sz="7155" spc="-214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EFICIENCIA DEL ALGORITMO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52655"/>
              <a:ext cx="18214447" cy="63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7"/>
                </a:lnSpc>
              </a:pPr>
              <a:r>
                <a:rPr lang="en-US" sz="3491" spc="-69">
                  <a:solidFill>
                    <a:srgbClr val="000000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DEL ALGORITMO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952208" y="1898402"/>
          <a:ext cx="14383584" cy="8062992"/>
        </p:xfrm>
        <a:graphic>
          <a:graphicData uri="http://schemas.openxmlformats.org/drawingml/2006/table">
            <a:tbl>
              <a:tblPr/>
              <a:tblGrid>
                <a:gridCol w="3873786"/>
                <a:gridCol w="3873786"/>
                <a:gridCol w="2762225"/>
                <a:gridCol w="3873786"/>
              </a:tblGrid>
              <a:tr h="18605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Característica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Descripción técnica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¿Lo cumple?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Justificación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8605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isket Mono"/>
                          <a:ea typeface="Disket Mono"/>
                          <a:cs typeface="Disket Mono"/>
                          <a:sym typeface="Disket Mono"/>
                        </a:rPr>
                        <a:t>Estabilidad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Mantiene el orden relativo de 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b="true" sz="1899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elementos iguales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No intercambia elementos iguales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7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isket Mono"/>
                          <a:ea typeface="Disket Mono"/>
                          <a:cs typeface="Disket Mono"/>
                          <a:sym typeface="Disket Mono"/>
                        </a:rPr>
                        <a:t> In-place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isket Mono"/>
                          <a:ea typeface="Disket Mono"/>
                          <a:cs typeface="Disket Mono"/>
                          <a:sym typeface="Disket Mono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Usa espacio adicional constante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Solo necesita una variable auxiliar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40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Disket Mono"/>
                          <a:ea typeface="Disket Mono"/>
                          <a:cs typeface="Disket Mono"/>
                          <a:sym typeface="Disket Mono"/>
                        </a:rPr>
                        <a:t>  Adaptabilidad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Disket Mono"/>
                          <a:ea typeface="Disket Mono"/>
                          <a:cs typeface="Disket Mono"/>
                          <a:sym typeface="Disket Mono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D9D9D9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Se beneficia de listas parcialmente ordenadas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  Reduce el número de</a:t>
                      </a:r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 comparaciones</a:t>
                      </a:r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isket Mono Bold"/>
                          <a:ea typeface="Disket Mono Bold"/>
                          <a:cs typeface="Disket Mono Bold"/>
                          <a:sym typeface="Disket Mono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4635716" y="172408"/>
            <a:ext cx="9016568" cy="1419446"/>
            <a:chOff x="0" y="0"/>
            <a:chExt cx="12022091" cy="189259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23850"/>
              <a:ext cx="12022091" cy="1120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08"/>
                </a:lnSpc>
              </a:pPr>
              <a:r>
                <a:rPr lang="en-US" b="true" sz="7155" spc="-214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CARACTERISTICAS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52655"/>
              <a:ext cx="11863042" cy="63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7"/>
                </a:lnSpc>
              </a:pPr>
              <a:r>
                <a:rPr lang="en-US" sz="3491" spc="-69">
                  <a:solidFill>
                    <a:srgbClr val="000000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TECNICAS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71762" y="1339140"/>
            <a:ext cx="4667330" cy="3804360"/>
          </a:xfrm>
          <a:custGeom>
            <a:avLst/>
            <a:gdLst/>
            <a:ahLst/>
            <a:cxnLst/>
            <a:rect r="r" b="b" t="t" l="l"/>
            <a:pathLst>
              <a:path h="3804360" w="4667330">
                <a:moveTo>
                  <a:pt x="0" y="0"/>
                </a:moveTo>
                <a:lnTo>
                  <a:pt x="4667330" y="0"/>
                </a:lnTo>
                <a:lnTo>
                  <a:pt x="4667330" y="3804360"/>
                </a:lnTo>
                <a:lnTo>
                  <a:pt x="0" y="3804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1084" y="4587964"/>
            <a:ext cx="5037268" cy="5037268"/>
          </a:xfrm>
          <a:custGeom>
            <a:avLst/>
            <a:gdLst/>
            <a:ahLst/>
            <a:cxnLst/>
            <a:rect r="r" b="b" t="t" l="l"/>
            <a:pathLst>
              <a:path h="5037268" w="5037268">
                <a:moveTo>
                  <a:pt x="0" y="0"/>
                </a:moveTo>
                <a:lnTo>
                  <a:pt x="5037268" y="0"/>
                </a:lnTo>
                <a:lnTo>
                  <a:pt x="5037268" y="5037267"/>
                </a:lnTo>
                <a:lnTo>
                  <a:pt x="0" y="5037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7907" y="3502447"/>
            <a:ext cx="16039036" cy="486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7"/>
              </a:lnSpc>
              <a:spcBef>
                <a:spcPct val="0"/>
              </a:spcBef>
            </a:pP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LISTAS PEQUEÑAS:</a:t>
            </a:r>
          </a:p>
          <a:p>
            <a:pPr algn="l">
              <a:lnSpc>
                <a:spcPts val="4277"/>
              </a:lnSpc>
              <a:spcBef>
                <a:spcPct val="0"/>
              </a:spcBef>
            </a:pP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 EFICIENTE EN CONJUNTOS REDUCIDOS PORQUE REALIZA POCAS COMPARACIONES Y MOVIMIENTOS.</a:t>
            </a:r>
          </a:p>
          <a:p>
            <a:pPr algn="l">
              <a:lnSpc>
                <a:spcPts val="4277"/>
              </a:lnSpc>
              <a:spcBef>
                <a:spcPct val="0"/>
              </a:spcBef>
            </a:pP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 EJEMPLO: ORDENAR PEQUEÑOS GRUPOS DE DATOS EN BASES DE DATOS.</a:t>
            </a:r>
          </a:p>
          <a:p>
            <a:pPr algn="l">
              <a:lnSpc>
                <a:spcPts val="4277"/>
              </a:lnSpc>
              <a:spcBef>
                <a:spcPct val="0"/>
              </a:spcBef>
            </a:pP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DATOS PARCIALMENTE ORDENADOS:</a:t>
            </a:r>
          </a:p>
          <a:p>
            <a:pPr algn="l">
              <a:lnSpc>
                <a:spcPts val="4277"/>
              </a:lnSpc>
              <a:spcBef>
                <a:spcPct val="0"/>
              </a:spcBef>
            </a:pP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 MUY RÁPIDO SI LOS ELEMENTOS YA ESTÁN CASI EN ORDEN (TIEMPO CASI LINEAL).</a:t>
            </a:r>
          </a:p>
          <a:p>
            <a:pPr algn="l">
              <a:lnSpc>
                <a:spcPts val="4277"/>
              </a:lnSpc>
              <a:spcBef>
                <a:spcPct val="0"/>
              </a:spcBef>
            </a:pP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 EJEMPLO: SISTEMAS EN TIEMPO REAL COMO REGISTROS DE SENSORES O EVENTOS DE RED.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42371" y="248235"/>
            <a:ext cx="8901629" cy="2676746"/>
            <a:chOff x="0" y="0"/>
            <a:chExt cx="11868839" cy="356899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23850"/>
              <a:ext cx="11868839" cy="2796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08"/>
                </a:lnSpc>
              </a:pPr>
              <a:r>
                <a:rPr lang="en-US" b="true" sz="7155" spc="357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CASOS DE USO Y APLICACIONES PRACTICAS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929055"/>
              <a:ext cx="11711818" cy="63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7"/>
                </a:lnSpc>
              </a:pPr>
              <a:r>
                <a:rPr lang="en-US" sz="3491" spc="-69">
                  <a:solidFill>
                    <a:srgbClr val="B4B4B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INSERTION SORT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2270" y="7560798"/>
            <a:ext cx="1697502" cy="1697502"/>
          </a:xfrm>
          <a:custGeom>
            <a:avLst/>
            <a:gdLst/>
            <a:ahLst/>
            <a:cxnLst/>
            <a:rect r="r" b="b" t="t" l="l"/>
            <a:pathLst>
              <a:path h="1697502" w="1697502">
                <a:moveTo>
                  <a:pt x="0" y="0"/>
                </a:moveTo>
                <a:lnTo>
                  <a:pt x="1697502" y="0"/>
                </a:lnTo>
                <a:lnTo>
                  <a:pt x="1697502" y="1697502"/>
                </a:lnTo>
                <a:lnTo>
                  <a:pt x="0" y="169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2843" y="4879265"/>
            <a:ext cx="1956356" cy="1956356"/>
          </a:xfrm>
          <a:custGeom>
            <a:avLst/>
            <a:gdLst/>
            <a:ahLst/>
            <a:cxnLst/>
            <a:rect r="r" b="b" t="t" l="l"/>
            <a:pathLst>
              <a:path h="1956356" w="1956356">
                <a:moveTo>
                  <a:pt x="0" y="0"/>
                </a:moveTo>
                <a:lnTo>
                  <a:pt x="1956356" y="0"/>
                </a:lnTo>
                <a:lnTo>
                  <a:pt x="1956356" y="1956356"/>
                </a:lnTo>
                <a:lnTo>
                  <a:pt x="0" y="19563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7483" y="2325472"/>
            <a:ext cx="2061716" cy="2061716"/>
          </a:xfrm>
          <a:custGeom>
            <a:avLst/>
            <a:gdLst/>
            <a:ahLst/>
            <a:cxnLst/>
            <a:rect r="r" b="b" t="t" l="l"/>
            <a:pathLst>
              <a:path h="2061716" w="2061716">
                <a:moveTo>
                  <a:pt x="0" y="0"/>
                </a:moveTo>
                <a:lnTo>
                  <a:pt x="2061716" y="0"/>
                </a:lnTo>
                <a:lnTo>
                  <a:pt x="2061716" y="2061716"/>
                </a:lnTo>
                <a:lnTo>
                  <a:pt x="0" y="2061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26975" y="3356330"/>
            <a:ext cx="4644676" cy="4644676"/>
          </a:xfrm>
          <a:custGeom>
            <a:avLst/>
            <a:gdLst/>
            <a:ahLst/>
            <a:cxnLst/>
            <a:rect r="r" b="b" t="t" l="l"/>
            <a:pathLst>
              <a:path h="4644676" w="4644676">
                <a:moveTo>
                  <a:pt x="0" y="0"/>
                </a:moveTo>
                <a:lnTo>
                  <a:pt x="4644676" y="0"/>
                </a:lnTo>
                <a:lnTo>
                  <a:pt x="4644676" y="4644675"/>
                </a:lnTo>
                <a:lnTo>
                  <a:pt x="0" y="4644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47483" y="548854"/>
            <a:ext cx="8901629" cy="1419446"/>
            <a:chOff x="0" y="0"/>
            <a:chExt cx="11868839" cy="189259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323850"/>
              <a:ext cx="11868839" cy="1120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008"/>
                </a:lnSpc>
              </a:pPr>
              <a:r>
                <a:rPr lang="en-US" b="true" sz="7155" spc="357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CONCLUSIONES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252655"/>
              <a:ext cx="11711818" cy="63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17"/>
                </a:lnSpc>
              </a:pPr>
              <a:r>
                <a:rPr lang="en-US" sz="3491" spc="-69">
                  <a:solidFill>
                    <a:srgbClr val="B4B4B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INSERTION SORT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990749" y="491704"/>
            <a:ext cx="8952414" cy="160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b="true" sz="3055" spc="-61">
                <a:solidFill>
                  <a:srgbClr val="000000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EL INSERTION SORT ES UN ALGORITMO SIMPLE Y EFICAZ PARA LISTAS PEQUEÑAS O PARCIALMENTE ORDENADAS.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30173" y="2723168"/>
            <a:ext cx="10272952" cy="160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b="true" sz="3055" spc="-61">
                <a:solidFill>
                  <a:srgbClr val="FFFFFF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DESTACA POR SU BAJO COSTO DE OPERACIONES, USO MÍNIMO DE MEMORIA Y ESTABILIDAD.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07941" y="5086350"/>
            <a:ext cx="9717416" cy="160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b="true" sz="3055" spc="-61">
                <a:solidFill>
                  <a:srgbClr val="FFFFFF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 IDEAL PARA BASES DE DATOS INTERNAS, BUFFERS PEQUEÑOS O INSERCIONES DINÁMICAS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76131" y="7576817"/>
            <a:ext cx="9181036" cy="160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b="true" sz="3055" spc="-61">
                <a:solidFill>
                  <a:srgbClr val="FFFFFF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NO ES RECOMENDABLE PARA LISTAS GRANDES O PROCESAMIENTOS MASIVOS POR SU MENOR EFICIENCIA.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DAG2lh2a_xE</dc:identifier>
  <dcterms:modified xsi:type="dcterms:W3CDTF">2011-08-01T06:04:30Z</dcterms:modified>
  <cp:revision>1</cp:revision>
  <dc:title>ADA05_En</dc:title>
</cp:coreProperties>
</file>